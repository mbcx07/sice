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226" y="1920240"/>
            <a:ext cx="6703923" cy="1508760"/>
          </a:xfrm>
        </p:spPr>
        <p:txBody>
          <a:bodyPr/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SISTRA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Sistema para el trámite de anteojos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226" y="3566160"/>
            <a:ext cx="6703923" cy="960120"/>
          </a:xfrm>
        </p:spPr>
        <p:txBody>
          <a:bodyPr/>
          <a:lstStyle/>
          <a:p>
            <a:pPr algn="l"/>
            <a:r>
              <a:rPr sz="1800">
                <a:solidFill>
                  <a:srgbClr val="D9F0E7"/>
                </a:solidFill>
                <a:latin typeface="Aptos"/>
              </a:rPr>
              <a:t>Guía paso a paso con capturas actualizadas de PC (horizontal)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3226" y="960120"/>
            <a:ext cx="3169127" cy="54864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Guía de Capacitación Institucional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1097280"/>
            <a:ext cx="2681569" cy="2681569"/>
          </a:xfrm>
          <a:prstGeom prst="ellipse">
            <a:avLst/>
          </a:prstGeom>
          <a:solidFill>
            <a:srgbClr val="1A8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7382" y="1920240"/>
            <a:ext cx="1706453" cy="1706453"/>
          </a:xfrm>
          <a:prstGeom prst="ellipse">
            <a:avLst/>
          </a:prstGeom>
          <a:solidFill>
            <a:srgbClr val="46A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Inicio de sesión</a:t>
            </a:r>
          </a:p>
        </p:txBody>
      </p:sp>
      <p:pic>
        <p:nvPicPr>
          <p:cNvPr id="3" name="Picture 2" descr="f56e1448-e6d3-4d04-85ee-be444179e0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" y="1165860"/>
            <a:ext cx="7679039" cy="4937760"/>
          </a:xfrm>
          <a:prstGeom prst="rect">
            <a:avLst/>
          </a:prstGeom>
          <a:ln w="15240">
            <a:solidFill>
              <a:srgbClr val="B7D8C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32266" y="1165860"/>
            <a:ext cx="3291017" cy="4937760"/>
          </a:xfrm>
          <a:prstGeom prst="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>
              <a:defRPr b="1" sz="2400"/>
            </a:pPr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1) Captura tu matrícula.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2) Captura contraseña.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3) Presiona Iniciar sesión.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2266" y="137160"/>
            <a:ext cx="3047238" cy="41148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PASO 1 · LOGIN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Tablero (Resumen institucional)</a:t>
            </a:r>
          </a:p>
        </p:txBody>
      </p:sp>
      <p:pic>
        <p:nvPicPr>
          <p:cNvPr id="3" name="Picture 2" descr="bc383fde-590e-4b36-ac75-b3402162b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" y="1165860"/>
            <a:ext cx="7679039" cy="4937760"/>
          </a:xfrm>
          <a:prstGeom prst="rect">
            <a:avLst/>
          </a:prstGeom>
          <a:ln w="15240">
            <a:solidFill>
              <a:srgbClr val="B7D8C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32266" y="1165860"/>
            <a:ext cx="3291017" cy="4937760"/>
          </a:xfrm>
          <a:prstGeom prst="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>
              <a:defRPr b="1" sz="2400"/>
            </a:pPr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Aquí editas presupuesto global.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Aquí ves total de solicitudes, importe total, restante y % de uso.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Resumen por unidad para control operativo.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2266" y="137160"/>
            <a:ext cx="3047238" cy="41148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PASO 2 · TABLERO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Trámites</a:t>
            </a:r>
          </a:p>
        </p:txBody>
      </p:sp>
      <p:pic>
        <p:nvPicPr>
          <p:cNvPr id="3" name="Picture 2" descr="d0d3032a-a5d2-4595-880a-a860b6997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" y="1165860"/>
            <a:ext cx="7679039" cy="4937760"/>
          </a:xfrm>
          <a:prstGeom prst="rect">
            <a:avLst/>
          </a:prstGeom>
          <a:ln w="15240">
            <a:solidFill>
              <a:srgbClr val="B7D8C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32266" y="1165860"/>
            <a:ext cx="3291017" cy="4937760"/>
          </a:xfrm>
          <a:prstGeom prst="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>
              <a:defRPr b="1" sz="2400"/>
            </a:pPr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Usa buscador por NSS/Folio.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Abre cada trámite con la flecha al detalle.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Desde detalle puedes imprimir 027/028, editar o eliminar.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2266" y="137160"/>
            <a:ext cx="3047238" cy="41148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PASO 3 · TRÁMITES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Nueva captura - Paso 1 (Solicitante)</a:t>
            </a:r>
          </a:p>
        </p:txBody>
      </p:sp>
      <p:pic>
        <p:nvPicPr>
          <p:cNvPr id="3" name="Picture 2" descr="f6791f4f-901c-4a7d-9fe8-545d9e491f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" y="1165860"/>
            <a:ext cx="7679039" cy="4937760"/>
          </a:xfrm>
          <a:prstGeom prst="rect">
            <a:avLst/>
          </a:prstGeom>
          <a:ln w="15240">
            <a:solidFill>
              <a:srgbClr val="B7D8C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32266" y="1165860"/>
            <a:ext cx="3291017" cy="4937760"/>
          </a:xfrm>
          <a:prstGeom prst="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>
              <a:defRPr b="1" sz="2400"/>
            </a:pPr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Captura tipo de beneficiario y datos del solicitante.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Para hija/hijo: captura datos del titular (matrícula, adscripción, contratación).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Después da clic en Siguiente fase.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2266" y="137160"/>
            <a:ext cx="3047238" cy="41148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PASO 4 · NUEVA CAPTURA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Detalle de trámite</a:t>
            </a:r>
          </a:p>
        </p:txBody>
      </p:sp>
      <p:pic>
        <p:nvPicPr>
          <p:cNvPr id="3" name="Picture 2" descr="09a5f044-b139-4b61-b3c5-870b719697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" y="1165860"/>
            <a:ext cx="7679039" cy="4937760"/>
          </a:xfrm>
          <a:prstGeom prst="rect">
            <a:avLst/>
          </a:prstGeom>
          <a:ln w="15240">
            <a:solidFill>
              <a:srgbClr val="B7D8C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32266" y="1165860"/>
            <a:ext cx="3291017" cy="4937760"/>
          </a:xfrm>
          <a:prstGeom prst="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>
              <a:defRPr b="1" sz="2400"/>
            </a:pPr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Información general del caso.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Control normativo y costo de solicitud (admin).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Botones de impresión/reimpresión 027 y 028.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2266" y="137160"/>
            <a:ext cx="3047238" cy="41148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PASO 5 · DETALLE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Configuración (Administrador)</a:t>
            </a:r>
          </a:p>
        </p:txBody>
      </p:sp>
      <p:pic>
        <p:nvPicPr>
          <p:cNvPr id="3" name="Picture 2" descr="286cef0f-9258-4240-bc32-8e8fe13eec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" y="1165860"/>
            <a:ext cx="7679039" cy="4937760"/>
          </a:xfrm>
          <a:prstGeom prst="rect">
            <a:avLst/>
          </a:prstGeom>
          <a:ln w="15240">
            <a:solidFill>
              <a:srgbClr val="B7D8C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32266" y="1165860"/>
            <a:ext cx="3291017" cy="4937760"/>
          </a:xfrm>
          <a:prstGeom prst="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>
              <a:defRPr b="1" sz="2400"/>
            </a:pPr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Alta/baja de CCT vigentes.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Alta de usuarios y asignación de rol.</a:t>
            </a:r>
            <a:br/>
            <a:r>
              <a:rPr sz="1100" b="0">
                <a:solidFill>
                  <a:srgbClr val="122B22"/>
                </a:solidFill>
                <a:latin typeface="Aptos"/>
              </a:rPr>
              <a:t> Reset administrativo y cambio de contraseña.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2266" y="137160"/>
            <a:ext cx="3047238" cy="411480"/>
          </a:xfrm>
          <a:prstGeom prst="roundRect">
            <a:avLst/>
          </a:prstGeom>
          <a:solidFill>
            <a:srgbClr val="0B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PASO 6 · CONFIGURACIÓN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668" y="137160"/>
            <a:ext cx="7800929" cy="617220"/>
          </a:xfrm>
          <a:solidFill>
            <a:srgbClr val="005C3C"/>
          </a:solidFill>
          <a:ln>
            <a:noFill/>
          </a:ln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116" y="1371600"/>
            <a:ext cx="10238719" cy="4389120"/>
          </a:xfrm>
          <a:solidFill>
            <a:srgbClr val="E8F4EF"/>
          </a:solidFill>
          <a:ln w="15240">
            <a:solidFill>
              <a:srgbClr val="9DC9B8"/>
            </a:solidFill>
          </a:ln>
        </p:spPr>
        <p:txBody>
          <a:bodyPr lIns="254000" rIns="254000" tIns="203200"/>
          <a:lstStyle/>
          <a:p>
            <a:pPr/>
            <a:r>
              <a:rPr sz="1800">
                <a:solidFill>
                  <a:srgbClr val="122B22"/>
                </a:solidFill>
                <a:latin typeface="Aptos"/>
              </a:rPr>
              <a:t>• Usa siempre CCT del catálogo para evitar errores de conteo</a:t>
            </a:r>
          </a:p>
          <a:p>
            <a:pPr>
              <a:defRPr sz="2200"/>
            </a:pPr>
            <a:r>
              <a:rPr sz="1800">
                <a:solidFill>
                  <a:srgbClr val="122B22"/>
                </a:solidFill>
                <a:latin typeface="Aptos"/>
              </a:rPr>
              <a:t>• Valida historial 028 antes de confirmar procedencia</a:t>
            </a:r>
          </a:p>
          <a:p>
            <a:pPr>
              <a:defRPr sz="2200"/>
            </a:pPr>
            <a:r>
              <a:rPr sz="1800">
                <a:solidFill>
                  <a:srgbClr val="122B22"/>
                </a:solidFill>
                <a:latin typeface="Aptos"/>
              </a:rPr>
              <a:t>• Si hay inconsistencia: comparte folio + NSS + captura</a:t>
            </a:r>
          </a:p>
          <a:p>
            <a:pPr>
              <a:defRPr sz="2200"/>
            </a:pPr>
            <a:r>
              <a:rPr sz="1800">
                <a:solidFill>
                  <a:srgbClr val="122B22"/>
                </a:solidFill>
                <a:latin typeface="Aptos"/>
              </a:rPr>
              <a:t>• Usa URL con versión (?v=...&amp;t=...) para evitar caché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32266" y="1165860"/>
            <a:ext cx="3291017" cy="4937760"/>
          </a:xfrm>
          <a:prstGeom prst="roundRect">
            <a:avLst/>
          </a:prstGeom>
          <a:solidFill>
            <a:srgbClr val="E8F4EF"/>
          </a:solidFill>
          <a:ln w="15240">
            <a:solidFill>
              <a:srgbClr val="9D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/>
          <a:lstStyle/>
          <a:p>
            <a:pPr algn="ctr"/>
            <a:r>
              <a:rPr sz="1300" b="1">
                <a:solidFill>
                  <a:srgbClr val="122B22"/>
                </a:solidFill>
                <a:latin typeface="Aptos"/>
              </a:rPr>
              <a:t>Qué se edita: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Parámetros o datos del trámite según pantalla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Qué se captura: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Campos obligatorios del solicitante y validaciones</a:t>
            </a:r>
          </a:p>
          <a:p>
            <a:pPr/>
            <a:r>
              <a:rPr sz="1300" b="1">
                <a:solidFill>
                  <a:srgbClr val="122B22"/>
                </a:solidFill>
                <a:latin typeface="Aptos"/>
              </a:rPr>
              <a:t>Indicaciones del paso:</a:t>
            </a:r>
          </a:p>
          <a:p>
            <a:pPr lvl="1"/>
            <a:r>
              <a:rPr sz="1100" b="0">
                <a:solidFill>
                  <a:srgbClr val="122B22"/>
                </a:solidFill>
                <a:latin typeface="Aptos"/>
              </a:rPr>
              <a:t>CIERRE · BUENAS PRÁCTICAS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