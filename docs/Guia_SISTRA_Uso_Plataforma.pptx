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Guía rápida de uso - SISTRA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Versión operativa para Unidad y Administrador</a:t>
            </a:r>
          </a:p>
          <a:p>
            <a:r>
              <a:t>IMSS • Trámite de dotación de anteojos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Acceso al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Ingresar con matrícula y contraseña.</a:t>
            </a:r>
          </a:p>
          <a:p>
            <a:pPr>
              <a:defRPr sz="2200"/>
            </a:pPr>
            <a:r>
              <a:t>Menú principal: Tablero, Trámites, Nueva captura, Configuración.</a:t>
            </a:r>
          </a:p>
          <a:p>
            <a:pPr>
              <a:defRPr sz="2200"/>
            </a:pPr>
            <a:r>
              <a:t>Si eres Administrador: puedes gestionar usuarios y CCT vigentes.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Flujo general del trámite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Nueva captura → Solicitante → Médico → Finalizar.</a:t>
            </a:r>
          </a:p>
          <a:p>
            <a:pPr>
              <a:defRPr sz="2200"/>
            </a:pPr>
            <a:r>
              <a:t>Paso 3 valida historial (Formato 028) antes de guardar.</a:t>
            </a:r>
          </a:p>
          <a:p>
            <a:pPr>
              <a:defRPr sz="2200"/>
            </a:pPr>
            <a:r>
              <a:t>Si procede: Guardar e imprimir Formato 027.</a:t>
            </a:r>
          </a:p>
          <a:p>
            <a:pPr>
              <a:defRPr sz="2200"/>
            </a:pPr>
            <a:r>
              <a:t>Si no procede: marcar Improcedente (no guarda).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Captura - datos obligatorios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Solicitante/beneficiario: nombre completo, NSS, unidad y adscripción.</a:t>
            </a:r>
          </a:p>
          <a:p>
            <a:pPr>
              <a:defRPr sz="2200"/>
            </a:pPr>
            <a:r>
              <a:t>Para hija/hijo: titular, matrícula titular, clave adscripción titular, tipo de contratación titular.</a:t>
            </a:r>
          </a:p>
          <a:p>
            <a:pPr>
              <a:defRPr sz="2200"/>
            </a:pPr>
            <a:r>
              <a:t>Receta médica: folio, descripción de lente, fecha, clave presupuestal y lugar de solicitud.</a:t>
            </a:r>
          </a:p>
          <a:p>
            <a:pPr>
              <a:defRPr sz="2200"/>
            </a:pPr>
            <a:r>
              <a:t>Contrato colectivo: se elige de lista desplegable (CCT configurados por Admin).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4) Validación de historial (Formato 028)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Muestra contador por contrato para la persona solicitante.</a:t>
            </a:r>
          </a:p>
          <a:p>
            <a:pPr>
              <a:defRPr sz="2200"/>
            </a:pPr>
            <a:r>
              <a:t>Límite: 2 dotaciones por contrato colectivo por persona.</a:t>
            </a:r>
          </a:p>
          <a:p>
            <a:pPr>
              <a:defRPr sz="2200"/>
            </a:pPr>
            <a:r>
              <a:t>Hermano/a se diferencia por datos de beneficiario (no se mezcla por NSS titular).</a:t>
            </a:r>
          </a:p>
          <a:p>
            <a:pPr>
              <a:defRPr sz="2200"/>
            </a:pPr>
            <a:r>
              <a:t>Imprimir historial antes de confirmar viabilidad.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5) Botones en Paso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Procedente</a:t>
            </a:r>
          </a:p>
          <a:p>
            <a:pPr>
              <a:defRPr sz="2000"/>
            </a:pPr>
            <a:r>
              <a:t>Guarda trámite</a:t>
            </a:r>
          </a:p>
          <a:p>
            <a:pPr>
              <a:defRPr sz="2000"/>
            </a:pPr>
            <a:r>
              <a:t>Asigna dotación correspondiente</a:t>
            </a:r>
          </a:p>
          <a:p>
            <a:pPr>
              <a:defRPr sz="2000"/>
            </a:pPr>
            <a:r>
              <a:t>Abre impresión Formato 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Improcedente</a:t>
            </a:r>
          </a:p>
          <a:p>
            <a:pPr>
              <a:defRPr sz="2000"/>
            </a:pPr>
            <a:r>
              <a:t>No guarda trámite</a:t>
            </a:r>
          </a:p>
          <a:p>
            <a:pPr>
              <a:defRPr sz="2000"/>
            </a:pPr>
            <a:r>
              <a:t>Registra intento improcedente</a:t>
            </a:r>
          </a:p>
          <a:p>
            <a:pPr>
              <a:defRPr sz="2000"/>
            </a:pPr>
            <a:r>
              <a:t>Regresa a captura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6) Impresión y reimpresión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Desde detalle de trámite puedes imprimir/reimprimir 027 y 028.</a:t>
            </a:r>
          </a:p>
          <a:p>
            <a:pPr>
              <a:defRPr sz="2200"/>
            </a:pPr>
            <a:r>
              <a:t>Formato 027: solicitud oficial.</a:t>
            </a:r>
          </a:p>
          <a:p>
            <a:pPr>
              <a:defRPr sz="2200"/>
            </a:pPr>
            <a:r>
              <a:t>Formato 028: tarjeta de control histórico de dotaciones.</a:t>
            </a:r>
          </a:p>
          <a:p>
            <a:pPr>
              <a:defRPr sz="2200"/>
            </a:pPr>
            <a:r>
              <a:t>Fechas se muestran en formato dd/MM/yyyy.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7) Trámites y edición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Buscar por NSS o folio en pestaña Trámites.</a:t>
            </a:r>
          </a:p>
          <a:p>
            <a:pPr>
              <a:defRPr sz="2200"/>
            </a:pPr>
            <a:r>
              <a:t>Abrir detalle para editar captura o actualizar costo (Admin).</a:t>
            </a:r>
          </a:p>
          <a:p>
            <a:pPr>
              <a:defRPr sz="2200"/>
            </a:pPr>
            <a:r>
              <a:t>Al guardar costo se muestra confirmación de guardado.</a:t>
            </a:r>
          </a:p>
          <a:p>
            <a:pPr>
              <a:defRPr sz="2200"/>
            </a:pPr>
            <a:r>
              <a:t>Eliminar solicitud solo cuando sea estrictamente necesario.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8) Configuración (Administrador)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Alta, edición de rol y eliminación de usuarios.</a:t>
            </a:r>
          </a:p>
          <a:p>
            <a:pPr>
              <a:defRPr sz="2200"/>
            </a:pPr>
            <a:r>
              <a:t>Cambio y reseteo de contraseña con política segura.</a:t>
            </a:r>
          </a:p>
          <a:p>
            <a:pPr>
              <a:defRPr sz="2200"/>
            </a:pPr>
            <a:r>
              <a:t>Gestión de CCT vigentes (alta/baja) para evitar errores de captura.</a:t>
            </a:r>
          </a:p>
          <a:p>
            <a:pPr>
              <a:defRPr sz="2200"/>
            </a:pPr>
            <a:r>
              <a:t>Presupuesto global, restante y porcentaje de uso en Tablero.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9) Buenas prácticas operativas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Seleccionar sugerencias al capturar para evitar variaciones de nombre.</a:t>
            </a:r>
          </a:p>
          <a:p>
            <a:pPr>
              <a:defRPr sz="2200"/>
            </a:pPr>
            <a:r>
              <a:t>Validar contrato colectivo correcto antes de confirmar.</a:t>
            </a:r>
          </a:p>
          <a:p>
            <a:pPr>
              <a:defRPr sz="2200"/>
            </a:pPr>
            <a:r>
              <a:t>Revisar histórico 028 en cada nueva dotación.</a:t>
            </a:r>
          </a:p>
          <a:p>
            <a:pPr>
              <a:defRPr sz="2200"/>
            </a:pPr>
            <a:r>
              <a:t>Conservar consistencia de datos del titular y beneficiarios.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10) Soporte rápido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Si no ves cambios: abrir con URL de versión (?v=commit&amp;t=timestamp).</a:t>
            </a:r>
          </a:p>
          <a:p>
            <a:pPr>
              <a:defRPr sz="2200"/>
            </a:pPr>
            <a:r>
              <a:t>Si hay bloqueo inesperado: capturar pantalla + folio + NSS y reportar.</a:t>
            </a:r>
          </a:p>
          <a:p>
            <a:pPr>
              <a:defRPr sz="2200"/>
            </a:pPr>
            <a:r>
              <a:t>Canal de soporte: equipo de administración de SISTRA.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