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SISTRA</a:t>
            </a:r>
          </a:p>
          <a:p>
            <a:r>
              <a:t>Sistema para el trámite de anteojos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Guía paso a paso con capturas actualizadas de PC (horizontal)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Inicio de sesión</a:t>
            </a:r>
          </a:p>
        </p:txBody>
      </p:sp>
      <p:pic>
        <p:nvPicPr>
          <p:cNvPr id="3" name="Picture 2" descr="f56e1448-e6d3-4d04-85ee-be444179e0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57300"/>
            <a:ext cx="7680960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14400"/>
            <a:ext cx="3840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¿Qué hacer aquí?</a:t>
            </a:r>
          </a:p>
          <a:p>
            <a:pPr>
              <a:defRPr sz="1800"/>
            </a:pPr>
            <a:r>
              <a:t>• 1) Captura tu matrícula.</a:t>
            </a:r>
          </a:p>
          <a:p>
            <a:pPr>
              <a:defRPr sz="1800"/>
            </a:pPr>
            <a:r>
              <a:t>• 2) Captura contraseña.</a:t>
            </a:r>
          </a:p>
          <a:p>
            <a:pPr>
              <a:defRPr sz="1800"/>
            </a:pPr>
            <a:r>
              <a:t>• 3) Presiona Iniciar sesión.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Tablero (Resumen institucional)</a:t>
            </a:r>
          </a:p>
        </p:txBody>
      </p:sp>
      <p:pic>
        <p:nvPicPr>
          <p:cNvPr id="3" name="Picture 2" descr="bc383fde-590e-4b36-ac75-b3402162b2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57300"/>
            <a:ext cx="7680960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14400"/>
            <a:ext cx="3840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¿Qué hacer aquí?</a:t>
            </a:r>
          </a:p>
          <a:p>
            <a:pPr>
              <a:defRPr sz="1800"/>
            </a:pPr>
            <a:r>
              <a:t>• Aquí editas presupuesto global.</a:t>
            </a:r>
          </a:p>
          <a:p>
            <a:pPr>
              <a:defRPr sz="1800"/>
            </a:pPr>
            <a:r>
              <a:t>• Aquí ves total de solicitudes, importe total, restante y % de uso.</a:t>
            </a:r>
          </a:p>
          <a:p>
            <a:pPr>
              <a:defRPr sz="1800"/>
            </a:pPr>
            <a:r>
              <a:t>• Resumen por unidad para control operativo.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Trámites</a:t>
            </a:r>
          </a:p>
        </p:txBody>
      </p:sp>
      <p:pic>
        <p:nvPicPr>
          <p:cNvPr id="3" name="Picture 2" descr="d0d3032a-a5d2-4595-880a-a860b69978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57300"/>
            <a:ext cx="7680960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14400"/>
            <a:ext cx="3840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¿Qué hacer aquí?</a:t>
            </a:r>
          </a:p>
          <a:p>
            <a:pPr>
              <a:defRPr sz="1800"/>
            </a:pPr>
            <a:r>
              <a:t>• Usa buscador por NSS/Folio.</a:t>
            </a:r>
          </a:p>
          <a:p>
            <a:pPr>
              <a:defRPr sz="1800"/>
            </a:pPr>
            <a:r>
              <a:t>• Abre cada trámite con la flecha al detalle.</a:t>
            </a:r>
          </a:p>
          <a:p>
            <a:pPr>
              <a:defRPr sz="1800"/>
            </a:pPr>
            <a:r>
              <a:t>• Desde detalle puedes imprimir 027/028, editar o eliminar.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Nueva captura - Paso 1 (Solicitante)</a:t>
            </a:r>
          </a:p>
        </p:txBody>
      </p:sp>
      <p:pic>
        <p:nvPicPr>
          <p:cNvPr id="3" name="Picture 2" descr="f6791f4f-901c-4a7d-9fe8-545d9e491f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130" y="914400"/>
            <a:ext cx="4761339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14400"/>
            <a:ext cx="3840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¿Qué hacer aquí?</a:t>
            </a:r>
          </a:p>
          <a:p>
            <a:pPr>
              <a:defRPr sz="1800"/>
            </a:pPr>
            <a:r>
              <a:t>• Captura tipo de beneficiario y datos del solicitante.</a:t>
            </a:r>
          </a:p>
          <a:p>
            <a:pPr>
              <a:defRPr sz="1800"/>
            </a:pPr>
            <a:r>
              <a:t>• Para hija/hijo: captura datos del titular (matrícula, adscripción, contratación).</a:t>
            </a:r>
          </a:p>
          <a:p>
            <a:pPr>
              <a:defRPr sz="1800"/>
            </a:pPr>
            <a:r>
              <a:t>• Después da clic en Siguiente fase.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Detalle de trámite</a:t>
            </a:r>
          </a:p>
        </p:txBody>
      </p:sp>
      <p:pic>
        <p:nvPicPr>
          <p:cNvPr id="3" name="Picture 2" descr="09a5f044-b139-4b61-b3c5-870b719697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57300"/>
            <a:ext cx="7680960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14400"/>
            <a:ext cx="3840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¿Qué hacer aquí?</a:t>
            </a:r>
          </a:p>
          <a:p>
            <a:pPr>
              <a:defRPr sz="1800"/>
            </a:pPr>
            <a:r>
              <a:t>• Información general del caso.</a:t>
            </a:r>
          </a:p>
          <a:p>
            <a:pPr>
              <a:defRPr sz="1800"/>
            </a:pPr>
            <a:r>
              <a:t>• Control normativo y costo de solicitud (admin).</a:t>
            </a:r>
          </a:p>
          <a:p>
            <a:pPr>
              <a:defRPr sz="1800"/>
            </a:pPr>
            <a:r>
              <a:t>• Botones de impresión/reimpresión 027 y 028.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Configuración (Administrador)</a:t>
            </a:r>
          </a:p>
        </p:txBody>
      </p:sp>
      <p:pic>
        <p:nvPicPr>
          <p:cNvPr id="3" name="Picture 2" descr="286cef0f-9258-4240-bc32-8e8fe13eec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932" y="914400"/>
            <a:ext cx="2223735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14400"/>
            <a:ext cx="3840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¿Qué hacer aquí?</a:t>
            </a:r>
          </a:p>
          <a:p>
            <a:pPr>
              <a:defRPr sz="1800"/>
            </a:pPr>
            <a:r>
              <a:t>• Alta/baja de CCT vigentes.</a:t>
            </a:r>
          </a:p>
          <a:p>
            <a:pPr>
              <a:defRPr sz="1800"/>
            </a:pPr>
            <a:r>
              <a:t>• Alta de usuarios y asignación de rol.</a:t>
            </a:r>
          </a:p>
          <a:p>
            <a:pPr>
              <a:defRPr sz="1800"/>
            </a:pPr>
            <a:r>
              <a:t>• Reset administrativo y cambio de contraseña.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Recomendaciones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Usa siempre CCT del catálogo para evitar errores de conteo</a:t>
            </a:r>
          </a:p>
          <a:p>
            <a:pPr>
              <a:defRPr sz="2200"/>
            </a:pPr>
            <a:r>
              <a:t>• Valida historial 028 antes de confirmar procedencia</a:t>
            </a:r>
          </a:p>
          <a:p>
            <a:pPr>
              <a:defRPr sz="2200"/>
            </a:pPr>
            <a:r>
              <a:t>• Si hay inconsistencia: comparte folio + NSS + captura</a:t>
            </a:r>
          </a:p>
          <a:p>
            <a:pPr>
              <a:defRPr sz="2200"/>
            </a:pPr>
            <a:r>
              <a:t>• Usa URL con versión (?v=...&amp;t=...) para evitar caché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