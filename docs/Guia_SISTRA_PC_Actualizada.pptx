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Guía de uso de SISTRA (PC)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Capturas actualizadas de la plataforma</a:t>
            </a:r>
          </a:p>
          <a:p>
            <a:r>
              <a:t>IMSS · Dotación de anteojos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operativo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Captura datos del solicitante y receta</a:t>
            </a:r>
          </a:p>
          <a:p>
            <a:pPr>
              <a:defRPr sz="2200"/>
            </a:pPr>
            <a:r>
              <a:t>2) Validar historial en Formato 028</a:t>
            </a:r>
          </a:p>
          <a:p>
            <a:pPr>
              <a:defRPr sz="2200"/>
            </a:pPr>
            <a:r>
              <a:t>3) Marcar Procedente/Improcedente</a:t>
            </a:r>
          </a:p>
          <a:p>
            <a:pPr>
              <a:defRPr sz="2200"/>
            </a:pPr>
            <a:r>
              <a:t>4) Guardar e imprimir Formato 027</a:t>
            </a:r>
          </a:p>
          <a:p>
            <a:pPr>
              <a:defRPr sz="2200"/>
            </a:pPr>
            <a:r>
              <a:t>5) Seguimiento y control en Trámites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Pantalla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Tablero: resumen institucional, presupuesto y métricas</a:t>
            </a:r>
          </a:p>
        </p:txBody>
      </p:sp>
      <p:pic>
        <p:nvPicPr>
          <p:cNvPr id="4" name="Picture 3" descr="7a2aa0c9-7db7-4635-a499-943016a118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867" y="1463040"/>
            <a:ext cx="3401785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Pantalla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Trámites: listado y búsqueda por NSS/Folio</a:t>
            </a:r>
          </a:p>
        </p:txBody>
      </p:sp>
      <p:pic>
        <p:nvPicPr>
          <p:cNvPr id="4" name="Picture 3" descr="81b20dce-4822-49c6-9aa7-48015d6852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60" y="1463040"/>
            <a:ext cx="2750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Pantalla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Nueva captura: paso 1 (solicitante)</a:t>
            </a:r>
          </a:p>
        </p:txBody>
      </p:sp>
      <p:pic>
        <p:nvPicPr>
          <p:cNvPr id="4" name="Picture 3" descr="6d3370db-2dcf-436c-b411-8f54b77993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6964" y="1463040"/>
            <a:ext cx="1307592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Pantalla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Configuración (Admin): catálogo CCT y administración</a:t>
            </a:r>
          </a:p>
        </p:txBody>
      </p:sp>
      <p:pic>
        <p:nvPicPr>
          <p:cNvPr id="4" name="Picture 3" descr="286cef0f-9258-4240-bc32-8e8fe13eec5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548" y="1463040"/>
            <a:ext cx="2038424" cy="50291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Pantalla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Detalle de trámite: acciones 027/028, edición y control</a:t>
            </a:r>
          </a:p>
        </p:txBody>
      </p:sp>
      <p:pic>
        <p:nvPicPr>
          <p:cNvPr id="4" name="Picture 3" descr="e46d2cb2-6da7-42bb-936f-91be52b856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60" y="1463040"/>
            <a:ext cx="27500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Notas de uso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Usa CCT del catálogo para evitar inconsistencias de conteo</a:t>
            </a:r>
          </a:p>
          <a:p>
            <a:pPr>
              <a:defRPr sz="2000"/>
            </a:pPr>
            <a:r>
              <a:t>• Verifica historial 028 antes de confirmar</a:t>
            </a:r>
          </a:p>
          <a:p>
            <a:pPr>
              <a:defRPr sz="2000"/>
            </a:pPr>
            <a:r>
              <a:t>• Si hay error: captura pantalla + folio + NSS para soporte</a:t>
            </a:r>
          </a:p>
          <a:p>
            <a:pPr>
              <a:defRPr sz="2000"/>
            </a:pPr>
            <a:r>
              <a:t>• Recomendado abrir con URL versionada (?v=...&amp;t=...)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