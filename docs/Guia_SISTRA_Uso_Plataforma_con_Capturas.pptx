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Guía de uso de SISTRA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Con capturas de pantalla</a:t>
            </a:r>
          </a:p>
          <a:p>
            <a:r>
              <a:t>IMSS · Dotación de anteojos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Objetivo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Esta guía muestra el flujo real con capturas:</a:t>
            </a:r>
          </a:p>
          <a:p>
            <a:pPr>
              <a:defRPr sz="2200"/>
            </a:pPr>
            <a:r>
              <a:t>1) Nueva captura</a:t>
            </a:r>
          </a:p>
          <a:p>
            <a:pPr>
              <a:defRPr sz="2200"/>
            </a:pPr>
            <a:r>
              <a:t>2) Validación de historial (028)</a:t>
            </a:r>
          </a:p>
          <a:p>
            <a:pPr>
              <a:defRPr sz="2200"/>
            </a:pPr>
            <a:r>
              <a:t>3) Impresión de formatos</a:t>
            </a:r>
          </a:p>
          <a:p>
            <a:pPr>
              <a:defRPr sz="2200"/>
            </a:pPr>
            <a:r>
              <a:t>4) Configuración y control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Captura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t>Detalle de trámite: botones de impresión 027/028, edición y control</a:t>
            </a:r>
          </a:p>
        </p:txBody>
      </p:sp>
      <p:pic>
        <p:nvPicPr>
          <p:cNvPr id="4" name="Picture 3" descr="449c2bad-b478-4b60-a634-5ed25fed35d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4044" y="1554480"/>
            <a:ext cx="2221992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Captura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t>Formato 028 en vista de impresión</a:t>
            </a:r>
          </a:p>
        </p:txBody>
      </p:sp>
      <p:pic>
        <p:nvPicPr>
          <p:cNvPr id="4" name="Picture 3" descr="7bd83c6b-2f3a-4848-8b0d-7fd7974ac3a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54480"/>
            <a:ext cx="10972800" cy="8940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Captura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t>Formato 027 de referencia normativa</a:t>
            </a:r>
          </a:p>
        </p:txBody>
      </p:sp>
      <p:pic>
        <p:nvPicPr>
          <p:cNvPr id="4" name="Picture 3" descr="daae1f1b-0c86-4b50-bba5-8a6709fc366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4044" y="1554480"/>
            <a:ext cx="2221992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Captura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t>Validación por contrato en paso Finalizar</a:t>
            </a:r>
          </a:p>
        </p:txBody>
      </p:sp>
      <p:pic>
        <p:nvPicPr>
          <p:cNvPr id="4" name="Picture 3" descr="7d9d5e16-216a-4485-9ef3-8e285f11a0d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4044" y="1554480"/>
            <a:ext cx="2221992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Captura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t>Ejemplo de bloqueo y mensaje de validación</a:t>
            </a:r>
          </a:p>
        </p:txBody>
      </p:sp>
      <p:pic>
        <p:nvPicPr>
          <p:cNvPr id="4" name="Picture 3" descr="58c40890-d793-4997-8998-915e093f7b3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4044" y="1554480"/>
            <a:ext cx="2221992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Captura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t>Caso de historial/contador por contrato</a:t>
            </a:r>
          </a:p>
        </p:txBody>
      </p:sp>
      <p:pic>
        <p:nvPicPr>
          <p:cNvPr id="4" name="Picture 3" descr="2be22cab-88d5-44fe-b153-2b686c50b9e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4044" y="1554480"/>
            <a:ext cx="2221992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Captura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t>Ejemplo de 028 con llenado de dotaciones</a:t>
            </a:r>
          </a:p>
        </p:txBody>
      </p:sp>
      <p:pic>
        <p:nvPicPr>
          <p:cNvPr id="4" name="Picture 3" descr="0fb8689e-9115-4f08-bf37-9416c32c05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4044" y="1554480"/>
            <a:ext cx="2221992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Notas finales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Recomendaciones:</a:t>
            </a:r>
          </a:p>
          <a:p>
            <a:pPr>
              <a:defRPr sz="2000"/>
            </a:pPr>
            <a:r>
              <a:t>Usar siempre CCT del catálogo en Configuración.</a:t>
            </a:r>
          </a:p>
          <a:p>
            <a:pPr>
              <a:defRPr sz="2000"/>
            </a:pPr>
            <a:r>
              <a:t>Validar historial 028 antes de confirmar procedencia.</a:t>
            </a:r>
          </a:p>
          <a:p>
            <a:pPr>
              <a:defRPr sz="2000"/>
            </a:pPr>
            <a:r>
              <a:t>Si hay inconsistencias, tomar captura y reportar folio + NSS.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